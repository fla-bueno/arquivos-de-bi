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E8C43F-2B18-6472-5C14-3AB1F55E68CF}" v="1" dt="2026-04-02T19:01:15.5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avio Bueno" userId="S::flavio.bueno@postall-log.com.br::64a622e1-a395-4b9e-b3e8-89df79a8e092" providerId="AD" clId="Web-{FEE8C43F-2B18-6472-5C14-3AB1F55E68CF}"/>
    <pc:docChg chg="modSld">
      <pc:chgData name="Flavio Bueno" userId="S::flavio.bueno@postall-log.com.br::64a622e1-a395-4b9e-b3e8-89df79a8e092" providerId="AD" clId="Web-{FEE8C43F-2B18-6472-5C14-3AB1F55E68CF}" dt="2026-04-02T19:01:15.559" v="0"/>
      <pc:docMkLst>
        <pc:docMk/>
      </pc:docMkLst>
      <pc:sldChg chg="delSp">
        <pc:chgData name="Flavio Bueno" userId="S::flavio.bueno@postall-log.com.br::64a622e1-a395-4b9e-b3e8-89df79a8e092" providerId="AD" clId="Web-{FEE8C43F-2B18-6472-5C14-3AB1F55E68CF}" dt="2026-04-02T19:01:15.559" v="0"/>
        <pc:sldMkLst>
          <pc:docMk/>
          <pc:sldMk cId="0" sldId="256"/>
        </pc:sldMkLst>
        <pc:picChg chg="del">
          <ac:chgData name="Flavio Bueno" userId="S::flavio.bueno@postall-log.com.br::64a622e1-a395-4b9e-b3e8-89df79a8e092" providerId="AD" clId="Web-{FEE8C43F-2B18-6472-5C14-3AB1F55E68CF}" dt="2026-04-02T19:01:15.559" v="0"/>
          <ac:picMkLst>
            <pc:docMk/>
            <pc:sldMk cId="0" sldId="256"/>
            <ac:picMk id="1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27828-660B-4B8C-8742-4102107E3A35}" type="datetimeFigureOut">
              <a:t>02/04/2026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F3C6CA-5E53-4420-9FC3-F6C493D22326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4297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07152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731520"/>
            <a:ext cx="109728" cy="109728"/>
          </a:xfrm>
          <a:prstGeom prst="ellipse">
            <a:avLst/>
          </a:prstGeom>
          <a:solidFill>
            <a:srgbClr val="0078D4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1371600"/>
            <a:ext cx="109728" cy="109728"/>
          </a:xfrm>
          <a:prstGeom prst="ellipse">
            <a:avLst/>
          </a:prstGeom>
          <a:solidFill>
            <a:srgbClr val="0078D4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2011680"/>
            <a:ext cx="109728" cy="109728"/>
          </a:xfrm>
          <a:prstGeom prst="ellipse">
            <a:avLst/>
          </a:prstGeom>
          <a:solidFill>
            <a:srgbClr val="0078D4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138160" y="2651760"/>
            <a:ext cx="109728" cy="109728"/>
          </a:xfrm>
          <a:prstGeom prst="ellipse">
            <a:avLst/>
          </a:prstGeom>
          <a:solidFill>
            <a:srgbClr val="0078D4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3291840"/>
            <a:ext cx="109728" cy="109728"/>
          </a:xfrm>
          <a:prstGeom prst="ellipse">
            <a:avLst/>
          </a:prstGeom>
          <a:solidFill>
            <a:srgbClr val="0078D4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1143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0A0E0"/>
                </a:solidFill>
              </a:rPr>
              <a:t>PROPOSTA DE MODERNIZAÇÃO DE DADOS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5760" y="15087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5600" dirty="0"/>
          </a:p>
        </p:txBody>
      </p:sp>
      <p:sp>
        <p:nvSpPr>
          <p:cNvPr id="13" name="Text 10"/>
          <p:cNvSpPr/>
          <p:nvPr/>
        </p:nvSpPr>
        <p:spPr>
          <a:xfrm>
            <a:off x="365760" y="24688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E0F4"/>
                </a:solidFill>
              </a:rPr>
              <a:t>Centralizando a inteligência de dados da empresa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65760" y="3063240"/>
            <a:ext cx="3657600" cy="457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60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36576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0F4"/>
                </a:solidFill>
              </a:rPr>
              <a:t>BIs Ativos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468880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24688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0F4"/>
                </a:solidFill>
              </a:rPr>
              <a:t>Fonte Unificada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0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D-1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457200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0F4"/>
                </a:solidFill>
              </a:rPr>
              <a:t>Atualização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6576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por Flavio Bueno  |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E0F4"/>
                </a:solidFill>
              </a:rPr>
              <a:t>SITUAÇÃO ATUAL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840"/>
                </a:solidFill>
              </a:rPr>
              <a:t>O problema que precisamos resolver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0" y="1463040"/>
            <a:ext cx="1828800" cy="82296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0" y="1463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Sistema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Operacional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828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64008" cy="77724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4173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840"/>
                </a:solidFill>
              </a:rPr>
              <a:t>BI Vendas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2840"/>
                </a:solidFill>
              </a:rPr>
              <a:t>(Tela A)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1801368"/>
            <a:ext cx="1371600" cy="0"/>
          </a:xfrm>
          <a:prstGeom prst="line">
            <a:avLst/>
          </a:prstGeom>
          <a:noFill/>
          <a:ln w="19050">
            <a:solidFill>
              <a:srgbClr val="FF8C00"/>
            </a:solidFill>
            <a:prstDash val="sysDash"/>
          </a:ln>
        </p:spPr>
      </p:sp>
      <p:sp>
        <p:nvSpPr>
          <p:cNvPr id="11" name="Shape 9"/>
          <p:cNvSpPr/>
          <p:nvPr/>
        </p:nvSpPr>
        <p:spPr>
          <a:xfrm>
            <a:off x="457200" y="2560320"/>
            <a:ext cx="1828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60320"/>
            <a:ext cx="64008" cy="77724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603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840"/>
                </a:solidFill>
              </a:rPr>
              <a:t>BI Financeiro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2840"/>
                </a:solidFill>
              </a:rPr>
              <a:t>(Tela B)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0" y="2944368"/>
            <a:ext cx="1371600" cy="0"/>
          </a:xfrm>
          <a:prstGeom prst="line">
            <a:avLst/>
          </a:prstGeom>
          <a:noFill/>
          <a:ln w="19050">
            <a:solidFill>
              <a:srgbClr val="FF8C00"/>
            </a:solidFill>
            <a:prstDash val="sysDash"/>
          </a:ln>
        </p:spPr>
      </p:sp>
      <p:sp>
        <p:nvSpPr>
          <p:cNvPr id="15" name="Shape 13"/>
          <p:cNvSpPr/>
          <p:nvPr/>
        </p:nvSpPr>
        <p:spPr>
          <a:xfrm>
            <a:off x="457200" y="3703320"/>
            <a:ext cx="1828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703320"/>
            <a:ext cx="64008" cy="77724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7033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840"/>
                </a:solidFill>
              </a:rPr>
              <a:t>BI RH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2840"/>
                </a:solidFill>
              </a:rPr>
              <a:t>(Tela C)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0" y="4087368"/>
            <a:ext cx="1371600" cy="0"/>
          </a:xfrm>
          <a:prstGeom prst="line">
            <a:avLst/>
          </a:prstGeom>
          <a:noFill/>
          <a:ln w="19050">
            <a:solidFill>
              <a:srgbClr val="FF8C00"/>
            </a:solidFill>
            <a:prstDash val="sysDash"/>
          </a:ln>
        </p:spPr>
      </p:sp>
      <p:sp>
        <p:nvSpPr>
          <p:cNvPr id="19" name="Shape 17"/>
          <p:cNvSpPr/>
          <p:nvPr/>
        </p:nvSpPr>
        <p:spPr>
          <a:xfrm>
            <a:off x="6858000" y="1417320"/>
            <a:ext cx="1828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1417320"/>
            <a:ext cx="64008" cy="777240"/>
          </a:xfrm>
          <a:prstGeom prst="rect">
            <a:avLst/>
          </a:prstGeom>
          <a:solidFill>
            <a:srgbClr val="50A0E0"/>
          </a:solidFill>
          <a:ln/>
        </p:spPr>
      </p:sp>
      <p:sp>
        <p:nvSpPr>
          <p:cNvPr id="21" name="Text 19"/>
          <p:cNvSpPr/>
          <p:nvPr/>
        </p:nvSpPr>
        <p:spPr>
          <a:xfrm>
            <a:off x="6967728" y="14173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840"/>
                </a:solidFill>
              </a:rPr>
              <a:t>BI Estoque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2840"/>
                </a:solidFill>
              </a:rPr>
              <a:t>(Tela D)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0" y="1801368"/>
            <a:ext cx="1371600" cy="0"/>
          </a:xfrm>
          <a:prstGeom prst="line">
            <a:avLst/>
          </a:prstGeom>
          <a:noFill/>
          <a:ln w="19050">
            <a:solidFill>
              <a:srgbClr val="50A0E0"/>
            </a:solidFill>
            <a:prstDash val="sysDash"/>
          </a:ln>
        </p:spPr>
      </p:sp>
      <p:sp>
        <p:nvSpPr>
          <p:cNvPr id="23" name="Shape 21"/>
          <p:cNvSpPr/>
          <p:nvPr/>
        </p:nvSpPr>
        <p:spPr>
          <a:xfrm>
            <a:off x="6858000" y="2560320"/>
            <a:ext cx="1828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0" y="2560320"/>
            <a:ext cx="64008" cy="777240"/>
          </a:xfrm>
          <a:prstGeom prst="rect">
            <a:avLst/>
          </a:prstGeom>
          <a:solidFill>
            <a:srgbClr val="50A0E0"/>
          </a:solidFill>
          <a:ln/>
        </p:spPr>
      </p:sp>
      <p:sp>
        <p:nvSpPr>
          <p:cNvPr id="25" name="Text 23"/>
          <p:cNvSpPr/>
          <p:nvPr/>
        </p:nvSpPr>
        <p:spPr>
          <a:xfrm>
            <a:off x="6967728" y="25603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840"/>
                </a:solidFill>
              </a:rPr>
              <a:t>BI Compras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2840"/>
                </a:solidFill>
              </a:rPr>
              <a:t>(Tela E)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0" y="2944368"/>
            <a:ext cx="1371600" cy="0"/>
          </a:xfrm>
          <a:prstGeom prst="line">
            <a:avLst/>
          </a:prstGeom>
          <a:noFill/>
          <a:ln w="19050">
            <a:solidFill>
              <a:srgbClr val="50A0E0"/>
            </a:solidFill>
            <a:prstDash val="sysDash"/>
          </a:ln>
        </p:spPr>
      </p:sp>
      <p:sp>
        <p:nvSpPr>
          <p:cNvPr id="27" name="Shape 25"/>
          <p:cNvSpPr/>
          <p:nvPr/>
        </p:nvSpPr>
        <p:spPr>
          <a:xfrm>
            <a:off x="6858000" y="3703320"/>
            <a:ext cx="1828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0" y="3703320"/>
            <a:ext cx="64008" cy="777240"/>
          </a:xfrm>
          <a:prstGeom prst="rect">
            <a:avLst/>
          </a:prstGeom>
          <a:solidFill>
            <a:srgbClr val="50A0E0"/>
          </a:solidFill>
          <a:ln/>
        </p:spPr>
      </p:sp>
      <p:sp>
        <p:nvSpPr>
          <p:cNvPr id="29" name="Text 27"/>
          <p:cNvSpPr/>
          <p:nvPr/>
        </p:nvSpPr>
        <p:spPr>
          <a:xfrm>
            <a:off x="6967728" y="37033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840"/>
                </a:solidFill>
              </a:rPr>
              <a:t>BI Logística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2840"/>
                </a:solidFill>
              </a:rPr>
              <a:t>(Tela F)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0" y="4087368"/>
            <a:ext cx="1371600" cy="0"/>
          </a:xfrm>
          <a:prstGeom prst="line">
            <a:avLst/>
          </a:prstGeom>
          <a:noFill/>
          <a:ln w="19050">
            <a:solidFill>
              <a:srgbClr val="50A0E0"/>
            </a:solidFill>
            <a:prstDash val="sysDash"/>
          </a:ln>
        </p:spPr>
      </p:sp>
      <p:sp>
        <p:nvSpPr>
          <p:cNvPr id="31" name="Text 29"/>
          <p:cNvSpPr/>
          <p:nvPr/>
        </p:nvSpPr>
        <p:spPr>
          <a:xfrm>
            <a:off x="137160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A8D"/>
                </a:solidFill>
              </a:rPr>
              <a:t>... e outros 54 BIs conectando diretamente ao sistema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83280" y="2423160"/>
            <a:ext cx="2377440" cy="1920240"/>
          </a:xfrm>
          <a:prstGeom prst="rect">
            <a:avLst/>
          </a:prstGeom>
          <a:solidFill>
            <a:srgbClr val="FFF4E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83280" y="2423160"/>
            <a:ext cx="2377440" cy="292608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4" name="Text 32"/>
          <p:cNvSpPr/>
          <p:nvPr/>
        </p:nvSpPr>
        <p:spPr>
          <a:xfrm>
            <a:off x="3401568" y="2423160"/>
            <a:ext cx="2340864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⚠  Problemas identificados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29000" y="2761488"/>
            <a:ext cx="228600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840"/>
                </a:solidFill>
              </a:rPr>
              <a:t>Sobrecarga no servidor de produção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29000" y="3081528"/>
            <a:ext cx="228600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840"/>
                </a:solidFill>
              </a:rPr>
              <a:t>Dados inconsistentes entre relatórios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429000" y="3401568"/>
            <a:ext cx="228600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840"/>
                </a:solidFill>
              </a:rPr>
              <a:t>Difícil manutenção e rastreabilidade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29000" y="3721608"/>
            <a:ext cx="228600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840"/>
                </a:solidFill>
              </a:rPr>
              <a:t>Sem histórico: se o sistema muda, perde-se o dado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SOLUÇÃO PROPOSTA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840"/>
                </a:solidFill>
              </a:rPr>
              <a:t>Arquitetura Medallion — Bronze / Silver / Gold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1554480" cy="141732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417320"/>
            <a:ext cx="15544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SISTEMA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OPERACIONAL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2194560"/>
            <a:ext cx="155448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2212848"/>
            <a:ext cx="155448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Fonte única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de extração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83080" y="2121408"/>
            <a:ext cx="59436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2048256"/>
            <a:ext cx="91440" cy="1463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1417320"/>
            <a:ext cx="1554480" cy="1417320"/>
          </a:xfrm>
          <a:prstGeom prst="rect">
            <a:avLst/>
          </a:prstGeom>
          <a:solidFill>
            <a:srgbClr val="7B3F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48840" y="1417320"/>
            <a:ext cx="15544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BRONZE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48840" y="2194560"/>
            <a:ext cx="155448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2212848"/>
            <a:ext cx="155448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Dados brutos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Histórico fiel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03320" y="2121408"/>
            <a:ext cx="59436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2048256"/>
            <a:ext cx="91440" cy="1463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7" name="Shape 15"/>
          <p:cNvSpPr/>
          <p:nvPr/>
        </p:nvSpPr>
        <p:spPr>
          <a:xfrm>
            <a:off x="4069080" y="1417320"/>
            <a:ext cx="1554480" cy="1417320"/>
          </a:xfrm>
          <a:prstGeom prst="rect">
            <a:avLst/>
          </a:prstGeom>
          <a:solidFill>
            <a:srgbClr val="5B5EA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069080" y="1417320"/>
            <a:ext cx="15544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SILVER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69080" y="2194560"/>
            <a:ext cx="155448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069080" y="2212848"/>
            <a:ext cx="155448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Dados limpos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Padronizados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623560" y="2121408"/>
            <a:ext cx="59436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2048256"/>
            <a:ext cx="91440" cy="1463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3" name="Shape 21"/>
          <p:cNvSpPr/>
          <p:nvPr/>
        </p:nvSpPr>
        <p:spPr>
          <a:xfrm>
            <a:off x="5989320" y="1417320"/>
            <a:ext cx="1554480" cy="1417320"/>
          </a:xfrm>
          <a:prstGeom prst="rect">
            <a:avLst/>
          </a:prstGeom>
          <a:solidFill>
            <a:srgbClr val="C5A02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89320" y="1417320"/>
            <a:ext cx="15544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GOLD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89320" y="2194560"/>
            <a:ext cx="155448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2212848"/>
            <a:ext cx="155448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Agregados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Prontos p/ BI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543800" y="2121408"/>
            <a:ext cx="59436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92440" y="2048256"/>
            <a:ext cx="91440" cy="1463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9" name="Shape 27"/>
          <p:cNvSpPr/>
          <p:nvPr/>
        </p:nvSpPr>
        <p:spPr>
          <a:xfrm>
            <a:off x="7909560" y="1417320"/>
            <a:ext cx="1554480" cy="1417320"/>
          </a:xfrm>
          <a:prstGeom prst="rect">
            <a:avLst/>
          </a:prstGeom>
          <a:solidFill>
            <a:srgbClr val="00B29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909560" y="1417320"/>
            <a:ext cx="15544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BIs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RELATÓRIOS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09560" y="2194560"/>
            <a:ext cx="155448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909560" y="2212848"/>
            <a:ext cx="155448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Todos lendo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do mesmo lugar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8600" y="310896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28600" y="3108960"/>
            <a:ext cx="2011680" cy="6400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3218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840"/>
                </a:solidFill>
              </a:rPr>
              <a:t>Uma única ingestão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3611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O sistema é consultado uma só vez. Fim da carga duplicada.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423160" y="310896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423160" y="3108960"/>
            <a:ext cx="2011680" cy="64008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39" name="Text 37"/>
          <p:cNvSpPr/>
          <p:nvPr/>
        </p:nvSpPr>
        <p:spPr>
          <a:xfrm>
            <a:off x="2514600" y="3218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840"/>
                </a:solidFill>
              </a:rPr>
              <a:t>Histórico preservado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514600" y="3611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Bronze guarda os dados brutos para auditoria e reprocessamento.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17720" y="310896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17720" y="3108960"/>
            <a:ext cx="2011680" cy="64008"/>
          </a:xfrm>
          <a:prstGeom prst="rect">
            <a:avLst/>
          </a:prstGeom>
          <a:solidFill>
            <a:srgbClr val="00B294"/>
          </a:solidFill>
          <a:ln/>
        </p:spPr>
      </p:sp>
      <p:sp>
        <p:nvSpPr>
          <p:cNvPr id="43" name="Text 41"/>
          <p:cNvSpPr/>
          <p:nvPr/>
        </p:nvSpPr>
        <p:spPr>
          <a:xfrm>
            <a:off x="4709160" y="3218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840"/>
                </a:solidFill>
              </a:rPr>
              <a:t>BIs consistentes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09160" y="3611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Todos os 60 BIs passam a ler da mesma camada Gold.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12280" y="310896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812280" y="3108960"/>
            <a:ext cx="2011680" cy="64008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7" name="Text 45"/>
          <p:cNvSpPr/>
          <p:nvPr/>
        </p:nvSpPr>
        <p:spPr>
          <a:xfrm>
            <a:off x="6903720" y="3218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840"/>
                </a:solidFill>
              </a:rPr>
              <a:t>Escalável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03720" y="3611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Novos BIs e fontes de dados são adicionados sem impacto.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E0F4"/>
                </a:solidFill>
              </a:rPr>
              <a:t>STACK TECNOLÓGICA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840"/>
                </a:solidFill>
              </a:rPr>
              <a:t>Usando o ecossistema Azure — que a empresa já possui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91440" cy="5943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435608"/>
            <a:ext cx="1005840" cy="201168"/>
          </a:xfrm>
          <a:prstGeom prst="rect">
            <a:avLst/>
          </a:prstGeom>
          <a:solidFill>
            <a:srgbClr val="0078D4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35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78D4"/>
                </a:solidFill>
              </a:rPr>
              <a:t>INFRAESTRUTURA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840"/>
                </a:solidFill>
              </a:rPr>
              <a:t>Azure Data Lake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840"/>
                </a:solidFill>
              </a:rPr>
              <a:t>Storage Gen2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4640" y="143560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Armazenamento das camadas Bronze, Silver e Gold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57400"/>
            <a:ext cx="8595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57400"/>
            <a:ext cx="91440" cy="5943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121408"/>
            <a:ext cx="1005840" cy="201168"/>
          </a:xfrm>
          <a:prstGeom prst="rect">
            <a:avLst/>
          </a:prstGeom>
          <a:solidFill>
            <a:srgbClr val="0078D4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1214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78D4"/>
                </a:solidFill>
              </a:rPr>
              <a:t>INGESTÃO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502920" y="23500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840"/>
                </a:solidFill>
              </a:rPr>
              <a:t>Azure Data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840"/>
                </a:solidFill>
              </a:rPr>
              <a:t>Factory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212140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Pipeline de ingestão: extrai dados do sistema 1x ao dia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743200"/>
            <a:ext cx="8595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743200"/>
            <a:ext cx="91440" cy="594360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2807208"/>
            <a:ext cx="1005840" cy="201168"/>
          </a:xfrm>
          <a:prstGeom prst="rect">
            <a:avLst/>
          </a:prstGeom>
          <a:solidFill>
            <a:srgbClr val="5B5EA6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807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B5EA6"/>
                </a:solidFill>
              </a:rPr>
              <a:t>TRANSFORMAÇÃO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502920" y="30358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840"/>
                </a:solidFill>
              </a:rPr>
              <a:t>Azure Databricks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840"/>
                </a:solidFill>
              </a:rPr>
              <a:t>ou dbt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280720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Transformações Silver → Gold. Regras de negócio.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429000"/>
            <a:ext cx="8595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429000"/>
            <a:ext cx="91440" cy="594360"/>
          </a:xfrm>
          <a:prstGeom prst="rect">
            <a:avLst/>
          </a:prstGeom>
          <a:solidFill>
            <a:srgbClr val="00B294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3493008"/>
            <a:ext cx="1005840" cy="201168"/>
          </a:xfrm>
          <a:prstGeom prst="rect">
            <a:avLst/>
          </a:prstGeom>
          <a:solidFill>
            <a:srgbClr val="00B294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4930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B294"/>
                </a:solidFill>
              </a:rPr>
              <a:t>CONSUMO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502920" y="3721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840"/>
                </a:solidFill>
              </a:rPr>
              <a:t>Azure Synapse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840"/>
                </a:solidFill>
              </a:rPr>
              <a:t>ou SQL Database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34640" y="349300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Camada de consumo: os BIs conectam aqui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114800"/>
            <a:ext cx="8595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114800"/>
            <a:ext cx="91440" cy="59436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" y="4178808"/>
            <a:ext cx="1005840" cy="201168"/>
          </a:xfrm>
          <a:prstGeom prst="rect">
            <a:avLst/>
          </a:prstGeom>
          <a:solidFill>
            <a:srgbClr val="FF8C00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178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8C00"/>
                </a:solidFill>
              </a:rPr>
              <a:t>VISUALIZAÇÃO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502920" y="44074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840"/>
                </a:solidFill>
              </a:rPr>
              <a:t>Power BI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834640" y="417880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Provavelmente já incluso nas licenças Microsoft 365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78D4"/>
                </a:solidFill>
              </a:rPr>
              <a:t>💡  Verificar com o TI quais desses serviços já estão disponíveis no contrato atual da Azure — pode haver custo zero adicional.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B29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ESTIMATIVA DE INVESTIMENTO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840"/>
                </a:solidFill>
              </a:rPr>
              <a:t>Dois cenários: com Azure e com ferramentas open source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28600" y="128016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80160"/>
            <a:ext cx="4114800" cy="5029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80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☁  Cenário A — Azure (recomendado)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3931920" cy="429768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874520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840"/>
                </a:solidFill>
              </a:rPr>
              <a:t>Azure Data Lake Storage Gen2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71800" y="187452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78D4"/>
                </a:solidFill>
              </a:rPr>
              <a:t>R$ 50 – 200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39319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377440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840"/>
                </a:solidFill>
              </a:rPr>
              <a:t>Azure Data Factory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71800" y="237744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78D4"/>
                </a:solidFill>
              </a:rPr>
              <a:t>R$ 100 – 400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3931920" cy="429768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880360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840"/>
                </a:solidFill>
              </a:rPr>
              <a:t>Azure SQL / Synapse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71800" y="288036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78D4"/>
                </a:solidFill>
              </a:rPr>
              <a:t>R$ 200 – 800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383280"/>
            <a:ext cx="39319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383280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840"/>
                </a:solidFill>
              </a:rPr>
              <a:t>Power BI (já incluso M365)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971800" y="338328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78D4"/>
                </a:solidFill>
              </a:rPr>
              <a:t>R$ 0 extra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913632"/>
            <a:ext cx="4114800" cy="548640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9136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840"/>
                </a:solidFill>
              </a:rPr>
              <a:t>Total estimado / mês: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97480" y="39136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78D4"/>
                </a:solidFill>
              </a:rPr>
              <a:t>R$ 350 – R$ 1.400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128016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280160"/>
            <a:ext cx="4114800" cy="502920"/>
          </a:xfrm>
          <a:prstGeom prst="rect">
            <a:avLst/>
          </a:prstGeom>
          <a:solidFill>
            <a:srgbClr val="00B294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280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🛠  Cenário B — Open Source (custo zero)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1874520"/>
            <a:ext cx="3931920" cy="429768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1874520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840"/>
                </a:solidFill>
              </a:rPr>
              <a:t>Python + Pandas / Polars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43800" y="187452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B294"/>
                </a:solidFill>
              </a:rPr>
              <a:t>Grátis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92040" y="2377440"/>
            <a:ext cx="39319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2377440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840"/>
                </a:solidFill>
              </a:rPr>
              <a:t>dbt Core (transformações)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43800" y="237744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B294"/>
                </a:solidFill>
              </a:rPr>
              <a:t>Grátis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92040" y="2880360"/>
            <a:ext cx="3931920" cy="429768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2880360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840"/>
                </a:solidFill>
              </a:rPr>
              <a:t>PostgreSQL (camada Gold)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543800" y="288036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B294"/>
                </a:solidFill>
              </a:rPr>
              <a:t>Grátis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92040" y="3383280"/>
            <a:ext cx="39319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3383280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840"/>
                </a:solidFill>
              </a:rPr>
              <a:t>Metabase ou Looker Studio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543800" y="338328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B294"/>
                </a:solidFill>
              </a:rPr>
              <a:t>Grátis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3913632"/>
            <a:ext cx="4114800" cy="548640"/>
          </a:xfrm>
          <a:prstGeom prst="rect">
            <a:avLst/>
          </a:prstGeom>
          <a:solidFill>
            <a:srgbClr val="EAFAF5"/>
          </a:solidFill>
          <a:ln/>
        </p:spPr>
      </p:sp>
      <p:sp>
        <p:nvSpPr>
          <p:cNvPr id="39" name="Text 37"/>
          <p:cNvSpPr/>
          <p:nvPr/>
        </p:nvSpPr>
        <p:spPr>
          <a:xfrm>
            <a:off x="4983480" y="39136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840"/>
                </a:solidFill>
              </a:rPr>
              <a:t>Total estimado / mês: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83680" y="39136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294"/>
                </a:solidFill>
              </a:rPr>
              <a:t>R$ 0 (só servidor)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A8D"/>
                </a:solidFill>
              </a:rPr>
              <a:t>* Volume estimado: pequeno/médio (&lt; 50 GB). Verificar contrato Azure para serviços já disponíveis.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PLANO DE IMPLEMENTAÇÃO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840"/>
                </a:solidFill>
              </a:rPr>
              <a:t>4 fases — de 4 a 6 meses no total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73152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88720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554480"/>
            <a:ext cx="21031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54480"/>
            <a:ext cx="210312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627632"/>
            <a:ext cx="347472" cy="347472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16276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840"/>
                </a:solidFill>
              </a:rPr>
              <a:t>Mapeamento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1920240" cy="228600"/>
          </a:xfrm>
          <a:prstGeom prst="rect">
            <a:avLst/>
          </a:prstGeom>
          <a:solidFill>
            <a:srgbClr val="0078D4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0574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8D4"/>
                </a:solidFill>
              </a:rPr>
              <a:t>⏱  2–4 semanas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2840"/>
                </a:solidFill>
              </a:rPr>
              <a:t>Levantar as telas/APIs que os BIs usam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2840"/>
                </a:solidFill>
              </a:rPr>
              <a:t>Identificar sobreposições de dados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2840"/>
                </a:solidFill>
              </a:rPr>
              <a:t>Definir frequência de atualização (D-1 ok?)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2840"/>
                </a:solidFill>
              </a:rPr>
              <a:t>Conversar com TI sobre contrato Azure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54680" y="118872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19" name="Shape 17"/>
          <p:cNvSpPr/>
          <p:nvPr/>
        </p:nvSpPr>
        <p:spPr>
          <a:xfrm>
            <a:off x="2423160" y="1554480"/>
            <a:ext cx="21031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23160" y="1554480"/>
            <a:ext cx="2103120" cy="73152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1" name="Shape 19"/>
          <p:cNvSpPr/>
          <p:nvPr/>
        </p:nvSpPr>
        <p:spPr>
          <a:xfrm>
            <a:off x="2468880" y="1627632"/>
            <a:ext cx="347472" cy="347472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22" name="Text 20"/>
          <p:cNvSpPr/>
          <p:nvPr/>
        </p:nvSpPr>
        <p:spPr>
          <a:xfrm>
            <a:off x="246888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80360" y="16276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840"/>
                </a:solidFill>
              </a:rPr>
              <a:t>MVP Bronze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14600" y="2057400"/>
            <a:ext cx="1920240" cy="228600"/>
          </a:xfrm>
          <a:prstGeom prst="rect">
            <a:avLst/>
          </a:prstGeom>
          <a:solidFill>
            <a:srgbClr val="FF8C00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514600" y="20574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8C00"/>
                </a:solidFill>
              </a:rPr>
              <a:t>⏱  4–6 semanas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1460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2840"/>
                </a:solidFill>
              </a:rPr>
              <a:t>Criar pipeline de ingestão único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1460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2840"/>
                </a:solidFill>
              </a:rPr>
              <a:t>Testar com 2–3 BIs piloto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14600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2840"/>
                </a:solidFill>
              </a:rPr>
              <a:t>Validar dados vs. sistema original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14600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2840"/>
                </a:solidFill>
              </a:rPr>
              <a:t>Desligar conexões diretas dos BIs piloto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303520" y="1188720"/>
            <a:ext cx="274320" cy="274320"/>
          </a:xfrm>
          <a:prstGeom prst="ellipse">
            <a:avLst/>
          </a:prstGeom>
          <a:solidFill>
            <a:srgbClr val="5B5EA6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0" y="1554480"/>
            <a:ext cx="21031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1554480"/>
            <a:ext cx="2103120" cy="73152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33" name="Shape 31"/>
          <p:cNvSpPr/>
          <p:nvPr/>
        </p:nvSpPr>
        <p:spPr>
          <a:xfrm>
            <a:off x="4617720" y="1627632"/>
            <a:ext cx="347472" cy="347472"/>
          </a:xfrm>
          <a:prstGeom prst="ellipse">
            <a:avLst/>
          </a:prstGeom>
          <a:solidFill>
            <a:srgbClr val="5B5EA6"/>
          </a:solidFill>
          <a:ln/>
        </p:spPr>
      </p:sp>
      <p:sp>
        <p:nvSpPr>
          <p:cNvPr id="34" name="Text 32"/>
          <p:cNvSpPr/>
          <p:nvPr/>
        </p:nvSpPr>
        <p:spPr>
          <a:xfrm>
            <a:off x="461772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0" y="16276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840"/>
                </a:solidFill>
              </a:rPr>
              <a:t>Silver &amp; Gold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2057400"/>
            <a:ext cx="1920240" cy="228600"/>
          </a:xfrm>
          <a:prstGeom prst="rect">
            <a:avLst/>
          </a:prstGeom>
          <a:solidFill>
            <a:srgbClr val="5B5EA6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20574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5EA6"/>
                </a:solidFill>
              </a:rPr>
              <a:t>⏱  4–6 semanas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6344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2840"/>
                </a:solidFill>
              </a:rPr>
              <a:t>Construir transformações com dbt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6344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2840"/>
                </a:solidFill>
              </a:rPr>
              <a:t>Criar camada Gold por domínio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63440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2840"/>
                </a:solidFill>
              </a:rPr>
              <a:t>Migrar todos os 60 BIs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63440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2840"/>
                </a:solidFill>
              </a:rPr>
              <a:t>Validar relatórios com usuários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52360" y="1188720"/>
            <a:ext cx="274320" cy="274320"/>
          </a:xfrm>
          <a:prstGeom prst="ellipse">
            <a:avLst/>
          </a:prstGeom>
          <a:solidFill>
            <a:srgbClr val="00B294"/>
          </a:solidFill>
          <a:ln/>
        </p:spPr>
      </p:sp>
      <p:sp>
        <p:nvSpPr>
          <p:cNvPr id="43" name="Shape 41"/>
          <p:cNvSpPr/>
          <p:nvPr/>
        </p:nvSpPr>
        <p:spPr>
          <a:xfrm>
            <a:off x="6720840" y="1554480"/>
            <a:ext cx="21031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720840" y="1554480"/>
            <a:ext cx="2103120" cy="73152"/>
          </a:xfrm>
          <a:prstGeom prst="rect">
            <a:avLst/>
          </a:prstGeom>
          <a:solidFill>
            <a:srgbClr val="00B294"/>
          </a:solidFill>
          <a:ln/>
        </p:spPr>
      </p:sp>
      <p:sp>
        <p:nvSpPr>
          <p:cNvPr id="45" name="Shape 43"/>
          <p:cNvSpPr/>
          <p:nvPr/>
        </p:nvSpPr>
        <p:spPr>
          <a:xfrm>
            <a:off x="6766560" y="1627632"/>
            <a:ext cx="347472" cy="347472"/>
          </a:xfrm>
          <a:prstGeom prst="ellipse">
            <a:avLst/>
          </a:prstGeom>
          <a:solidFill>
            <a:srgbClr val="00B294"/>
          </a:solidFill>
          <a:ln/>
        </p:spPr>
      </p:sp>
      <p:sp>
        <p:nvSpPr>
          <p:cNvPr id="46" name="Text 44"/>
          <p:cNvSpPr/>
          <p:nvPr/>
        </p:nvSpPr>
        <p:spPr>
          <a:xfrm>
            <a:off x="676656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78040" y="16276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840"/>
                </a:solidFill>
              </a:rPr>
              <a:t>Governança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12280" y="2057400"/>
            <a:ext cx="1920240" cy="228600"/>
          </a:xfrm>
          <a:prstGeom prst="rect">
            <a:avLst/>
          </a:prstGeom>
          <a:solidFill>
            <a:srgbClr val="00B294">
              <a:alpha val="1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812280" y="20574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294"/>
                </a:solidFill>
              </a:rPr>
              <a:t>⏱  Contínuo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1228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2840"/>
                </a:solidFill>
              </a:rPr>
              <a:t>Catálogo de dados (glossário)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81228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2840"/>
                </a:solidFill>
              </a:rPr>
              <a:t>Monitoramento de qualidade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12280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2840"/>
                </a:solidFill>
              </a:rPr>
              <a:t>Controle de acesso por camada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812280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2840"/>
                </a:solidFill>
              </a:rPr>
              <a:t>Documentação e treinamento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0A0E0"/>
                </a:solidFill>
              </a:rPr>
              <a:t>PRÓXIMOS PASSOS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 que precisamos para começar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411480" cy="41148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55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7190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Aprovação da iniciativa pela gestão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99339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0F4"/>
                </a:solidFill>
              </a:rPr>
              <a:t>Alinhamento estratégico e priorização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" y="2167128"/>
            <a:ext cx="0" cy="347472"/>
          </a:xfrm>
          <a:prstGeom prst="line">
            <a:avLst/>
          </a:prstGeom>
          <a:noFill/>
          <a:ln w="12700">
            <a:solidFill>
              <a:srgbClr val="6B7A8D"/>
            </a:solidFill>
            <a:prstDash val="sysDash"/>
          </a:ln>
        </p:spPr>
      </p:sp>
      <p:sp>
        <p:nvSpPr>
          <p:cNvPr id="10" name="Shape 8"/>
          <p:cNvSpPr/>
          <p:nvPr/>
        </p:nvSpPr>
        <p:spPr>
          <a:xfrm>
            <a:off x="457200" y="2505456"/>
            <a:ext cx="411480" cy="411480"/>
          </a:xfrm>
          <a:prstGeom prst="ellipse">
            <a:avLst/>
          </a:prstGeom>
          <a:solidFill>
            <a:srgbClr val="5B5EA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05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468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Acesso ao ambiente Azure da empresa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7432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0F4"/>
                </a:solidFill>
              </a:rPr>
              <a:t>Verificar contrato e serviços disponíveis com o TI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" y="2916936"/>
            <a:ext cx="0" cy="347472"/>
          </a:xfrm>
          <a:prstGeom prst="line">
            <a:avLst/>
          </a:prstGeom>
          <a:noFill/>
          <a:ln w="12700">
            <a:solidFill>
              <a:srgbClr val="6B7A8D"/>
            </a:solidFill>
            <a:prstDash val="sysDash"/>
          </a:ln>
        </p:spPr>
      </p:sp>
      <p:sp>
        <p:nvSpPr>
          <p:cNvPr id="15" name="Shape 13"/>
          <p:cNvSpPr/>
          <p:nvPr/>
        </p:nvSpPr>
        <p:spPr>
          <a:xfrm>
            <a:off x="457200" y="3255264"/>
            <a:ext cx="411480" cy="411480"/>
          </a:xfrm>
          <a:prstGeom prst="ellipse">
            <a:avLst/>
          </a:prstGeom>
          <a:solidFill>
            <a:srgbClr val="00B29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55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2186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Mapeamento dos 60 BIs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4930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0F4"/>
                </a:solidFill>
              </a:rPr>
              <a:t>Identificar quais dados cada BI consome hoje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512" y="3666744"/>
            <a:ext cx="0" cy="347472"/>
          </a:xfrm>
          <a:prstGeom prst="line">
            <a:avLst/>
          </a:prstGeom>
          <a:noFill/>
          <a:ln w="12700">
            <a:solidFill>
              <a:srgbClr val="6B7A8D"/>
            </a:solidFill>
            <a:prstDash val="sysDash"/>
          </a:ln>
        </p:spPr>
      </p:sp>
      <p:sp>
        <p:nvSpPr>
          <p:cNvPr id="20" name="Shape 18"/>
          <p:cNvSpPr/>
          <p:nvPr/>
        </p:nvSpPr>
        <p:spPr>
          <a:xfrm>
            <a:off x="457200" y="4005072"/>
            <a:ext cx="411480" cy="411480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9684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Definir equipe / responsável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2428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0F4"/>
                </a:solidFill>
              </a:rPr>
              <a:t>Engenheiro de dados ou capacitação interna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709160"/>
            <a:ext cx="5943600" cy="457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1888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8D"/>
                </a:solidFill>
              </a:rPr>
              <a:t>Custo inicial estimado: R$ 0 (MVP open source) → até R$ 1.400/mês (Azure full)  |  ROI: redução de carga no servidor e eliminação de inconsistências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Apresentação na tela (16:9)</PresentationFormat>
  <Paragraphs>0</Paragraphs>
  <Slides>7</Slides>
  <Notes>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Lake - Proposta de Implementação</dc:title>
  <dc:subject>PptxGenJS Presentation</dc:subject>
  <dc:creator>PptxGenJS</dc:creator>
  <cp:lastModifiedBy>PptxGenJS</cp:lastModifiedBy>
  <cp:revision>2</cp:revision>
  <dcterms:created xsi:type="dcterms:W3CDTF">2026-04-02T16:19:01Z</dcterms:created>
  <dcterms:modified xsi:type="dcterms:W3CDTF">2026-04-02T19:01:16Z</dcterms:modified>
</cp:coreProperties>
</file>